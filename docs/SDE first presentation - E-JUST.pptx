
<file path=[Content_Types].xml><?xml version="1.0" encoding="utf-8"?>
<Types xmlns="http://schemas.openxmlformats.org/package/2006/content-types">
  <Default Extension="9Q7Ie7ZrMSOhMawTiBVO0kXoo8JbS_NKOC-0TybsGj8" ContentType="image/png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4" r:id="rId4"/>
    <p:sldId id="258" r:id="rId5"/>
    <p:sldId id="259" r:id="rId6"/>
    <p:sldId id="268" r:id="rId7"/>
    <p:sldId id="260" r:id="rId8"/>
    <p:sldId id="266" r:id="rId9"/>
    <p:sldId id="265" r:id="rId10"/>
    <p:sldId id="261" r:id="rId11"/>
    <p:sldId id="269" r:id="rId12"/>
    <p:sldId id="263" r:id="rId13"/>
  </p:sldIdLst>
  <p:sldSz cx="12192000" cy="6858000"/>
  <p:notesSz cx="6858000" cy="12192000"/>
  <p:embeddedFontLst>
    <p:embeddedFont>
      <p:font typeface="Chakra Petch Bold" panose="020B0604020202020204" charset="-34"/>
      <p:regular r:id="rId15"/>
    </p:embeddedFont>
    <p:embeddedFont>
      <p:font typeface="Geist Mono Bold" panose="020B0604020202020204" charset="0"/>
      <p:regular r:id="rId16"/>
    </p:embeddedFont>
    <p:embeddedFont>
      <p:font typeface="Geist Mono Medium" panose="020B0604020202020204" charset="0"/>
      <p:regular r:id="rId17"/>
    </p:embeddedFont>
    <p:embeddedFont>
      <p:font typeface="Mukta" panose="020B0604020202020204" charset="0"/>
      <p:regular r:id="rId18"/>
    </p:embeddedFont>
    <p:embeddedFont>
      <p:font typeface="Mukta Bold" panose="020B0604020202020204" charset="0"/>
      <p:regular r:id="rId19"/>
    </p:embeddedFont>
    <p:embeddedFont>
      <p:font typeface="Mukta SemiBold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6524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engineering team and outline the core mission: building a modern, decoupled web platform that makes fundamental physics visual and interactive for engineering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cognitive gap students experience when moving from lecture equations to real-world mechanical intuition. Our platform bridges this with active, visual experimentation.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CAFC7-4C3E-8A95-04ED-F868969CA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0B6A3C-8959-4B72-550D-17F3AC050C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EED422-73C2-9E66-9EEB-3774274B49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cognitive gap students experience when moving from lecture equations to real-world mechanical intuition. Our platform bridges this with active, visual experimentation.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A5F3C-6341-7907-C342-82444651C1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9217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architecture left-to-right: the React canvas handles UI state and rendering, while calculation fidelity is strictly preserved in the Spring Boot backend.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how the team uses two-week sprints to isolate mathematical calculation accuracy before building the visualization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60931-5A0A-E1A5-4C5F-A764F0600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BDBB5E-DF55-0D74-5382-4B06B05A75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FAE44B-4F81-9DC4-680C-0E22AD0748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how the team uses two-week sprints to isolate mathematical calculation accuracy before building the visualization layer.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306C96-0F31-205F-C280-B83E8F02E1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5569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branching strategy: main branch is protected, each developer works on an isolated module branch, and automated checks prevent regression.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1919C-3B94-CEE3-56FD-6AA49F57A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808203-4979-C557-3D6A-C9984B2621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0C354A-DE67-A737-4490-CDF75E7C1D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branching strategy: main branch is protected, each developer works on an isolated module branch, and automated checks prevent regression.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D4D578-FDF7-4B47-A4B8-1EB340938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1466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9109D-4BB6-4103-D17B-42A0B3AC8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AF6E35-BF01-B82B-9CBA-ADD295AECE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E20847-EB0C-91B7-6D12-FDE9423CB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branching strategy: main branch is protected, each developer works on an isolated module branch, and automated checks prevent regression.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76130C-7CA9-3A88-B319-3306A34EFB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9721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coding work: Java classes hold the physics logic, React handles the controls and output, REST endpoints link frontend and backend, JUnit tests validate the calculations, and Git branches keep feature work modular.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D4E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D4E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3">
    <p:bg>
      <p:bgPr>
        <a:solidFill>
          <a:srgbClr val="D4E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7EE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738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9Q7Ie7ZrMSOhMawTiBVO0kXoo8JbS_NKOC-0TybsGj8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71487" y="1614424"/>
            <a:ext cx="7162621" cy="603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400" b="1" kern="100" spc="-44" dirty="0">
                <a:solidFill>
                  <a:srgbClr val="17301F"/>
                </a:solidFill>
                <a:latin typeface="Chakra Petch Bold" pitchFamily="34" charset="0"/>
                <a:ea typeface="Chakra Petch Bold" pitchFamily="34" charset="-122"/>
                <a:cs typeface="Chakra Petch Bold" pitchFamily="34" charset="0"/>
              </a:rPr>
              <a:t>VECTORI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1031523" y="2494161"/>
            <a:ext cx="7162621" cy="31651"/>
          </a:xfrm>
          <a:prstGeom prst="roundRect">
            <a:avLst>
              <a:gd name="adj" fmla="val 49998"/>
            </a:avLst>
          </a:prstGeom>
          <a:solidFill>
            <a:srgbClr val="1730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15505" y="2816423"/>
            <a:ext cx="7162621" cy="804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17301F"/>
                </a:solidFill>
                <a:latin typeface="Mukta" pitchFamily="34" charset="0"/>
                <a:ea typeface="Mukta" pitchFamily="34" charset="-122"/>
                <a:cs typeface="Mukta" pitchFamily="34" charset="0"/>
              </a:rPr>
              <a:t>Teaching platform for physics laws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86652"/>
            <a:ext cx="7823004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b="1" kern="100" spc="-34" dirty="0">
                <a:solidFill>
                  <a:srgbClr val="17301F"/>
                </a:solidFill>
                <a:latin typeface="Chakra Petch Bold" pitchFamily="34" charset="0"/>
                <a:ea typeface="Chakra Petch Bold" pitchFamily="34" charset="-122"/>
                <a:cs typeface="Chakra Petch Bold" pitchFamily="34" charset="0"/>
              </a:rPr>
              <a:t>Our motivation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7987" y="1112441"/>
            <a:ext cx="11175621" cy="31651"/>
          </a:xfrm>
          <a:prstGeom prst="roundRect">
            <a:avLst>
              <a:gd name="adj" fmla="val 49998"/>
            </a:avLst>
          </a:prstGeom>
          <a:solidFill>
            <a:srgbClr val="1730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7987" y="1383903"/>
            <a:ext cx="3521979" cy="4743847"/>
          </a:xfrm>
          <a:prstGeom prst="roundRect">
            <a:avLst>
              <a:gd name="adj" fmla="val 325"/>
            </a:avLst>
          </a:prstGeom>
          <a:solidFill>
            <a:srgbClr val="FFFFFF"/>
          </a:solidFill>
          <a:ln w="25399">
            <a:solidFill>
              <a:srgbClr val="A4CD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12780" y="2006227"/>
            <a:ext cx="2912394" cy="389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600" kern="100" spc="-13" dirty="0">
                <a:solidFill>
                  <a:srgbClr val="000000"/>
                </a:solidFill>
                <a:latin typeface="Mukta SemiBold" pitchFamily="34" charset="0"/>
                <a:ea typeface="Mukta SemiBold" pitchFamily="34" charset="-122"/>
                <a:cs typeface="Mukta SemiBold" pitchFamily="34" charset="0"/>
              </a:rPr>
              <a:t>The Problem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12780" y="2520255"/>
            <a:ext cx="2912394" cy="13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ukta" pitchFamily="34" charset="0"/>
                <a:ea typeface="Mukta" pitchFamily="34" charset="-122"/>
                <a:cs typeface="Mukta" pitchFamily="34" charset="0"/>
              </a:rPr>
              <a:t>Kinematics, mechanics, and electromagnetism are difficult to master through static textbook diagrams and formula memorization alone.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34759" y="1383903"/>
            <a:ext cx="3522078" cy="4743847"/>
          </a:xfrm>
          <a:prstGeom prst="rect">
            <a:avLst/>
          </a:prstGeom>
          <a:solidFill>
            <a:srgbClr val="1C42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14152" y="1980827"/>
            <a:ext cx="2963292" cy="389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600" kern="100" spc="-13" dirty="0">
                <a:solidFill>
                  <a:srgbClr val="FFFFFF"/>
                </a:solidFill>
                <a:latin typeface="Mukta SemiBold" pitchFamily="34" charset="0"/>
                <a:ea typeface="Mukta SemiBold" pitchFamily="34" charset="-122"/>
                <a:cs typeface="Mukta SemiBold" pitchFamily="34" charset="0"/>
              </a:rPr>
              <a:t>Our Vision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614152" y="2494855"/>
            <a:ext cx="2963292" cy="13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ukta" pitchFamily="34" charset="0"/>
                <a:ea typeface="Mukta" pitchFamily="34" charset="-122"/>
                <a:cs typeface="Mukta" pitchFamily="34" charset="0"/>
              </a:rPr>
              <a:t>Visualize core physical laws in real time through dynamic mathematical models and interactive parameter manipulation.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61629" y="1383903"/>
            <a:ext cx="3522078" cy="4743847"/>
          </a:xfrm>
          <a:prstGeom prst="roundRect">
            <a:avLst>
              <a:gd name="adj" fmla="val 325"/>
            </a:avLst>
          </a:prstGeom>
          <a:solidFill>
            <a:srgbClr val="FFFFFF"/>
          </a:solidFill>
          <a:ln w="25399">
            <a:solidFill>
              <a:srgbClr val="A4CD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66422" y="2006227"/>
            <a:ext cx="2912494" cy="389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600" kern="100" spc="-13" dirty="0">
                <a:solidFill>
                  <a:srgbClr val="000000"/>
                </a:solidFill>
                <a:latin typeface="Mukta SemiBold" pitchFamily="34" charset="0"/>
                <a:ea typeface="Mukta SemiBold" pitchFamily="34" charset="-122"/>
                <a:cs typeface="Mukta SemiBold" pitchFamily="34" charset="0"/>
              </a:rPr>
              <a:t>Key Goals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466422" y="2520255"/>
            <a:ext cx="2912494" cy="804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ukta" pitchFamily="34" charset="0"/>
                <a:ea typeface="Mukta" pitchFamily="34" charset="-122"/>
                <a:cs typeface="Mukta" pitchFamily="34" charset="0"/>
              </a:rPr>
              <a:t>Deliver functions through simple graphics, an extensible calculation module structure.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F8686-5876-436D-D1DB-B4B2A0335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A488FBF-CD9F-86EB-8CD6-86DC9967131E}"/>
              </a:ext>
            </a:extLst>
          </p:cNvPr>
          <p:cNvSpPr/>
          <p:nvPr/>
        </p:nvSpPr>
        <p:spPr>
          <a:xfrm>
            <a:off x="442673" y="554838"/>
            <a:ext cx="7823004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de-DE" sz="3400" b="1" kern="100" spc="-34" dirty="0">
                <a:solidFill>
                  <a:srgbClr val="17301F"/>
                </a:solidFill>
                <a:latin typeface="Chakra Petch Bold" pitchFamily="34" charset="0"/>
                <a:cs typeface="Chakra Petch Bold" pitchFamily="34" charset="0"/>
              </a:rPr>
              <a:t>D</a:t>
            </a:r>
            <a:r>
              <a:rPr lang="en-US" sz="3400" b="1" kern="100" spc="-34" dirty="0">
                <a:solidFill>
                  <a:srgbClr val="17301F"/>
                </a:solidFill>
                <a:latin typeface="Chakra Petch Bold" pitchFamily="34" charset="0"/>
                <a:cs typeface="Chakra Petch Bold" pitchFamily="34" charset="0"/>
              </a:rPr>
              <a:t>esign</a:t>
            </a:r>
            <a:endParaRPr lang="en-US" sz="34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E3AA438-F130-CEC0-CE5B-DCA9887F3A02}"/>
              </a:ext>
            </a:extLst>
          </p:cNvPr>
          <p:cNvSpPr/>
          <p:nvPr/>
        </p:nvSpPr>
        <p:spPr>
          <a:xfrm>
            <a:off x="181416" y="1112441"/>
            <a:ext cx="1871320" cy="45719"/>
          </a:xfrm>
          <a:prstGeom prst="roundRect">
            <a:avLst>
              <a:gd name="adj" fmla="val 49998"/>
            </a:avLst>
          </a:prstGeom>
          <a:solidFill>
            <a:srgbClr val="1730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C12C5D-10C4-20B6-9181-94252E6F0958}"/>
              </a:ext>
            </a:extLst>
          </p:cNvPr>
          <p:cNvSpPr txBox="1"/>
          <p:nvPr/>
        </p:nvSpPr>
        <p:spPr>
          <a:xfrm>
            <a:off x="199026" y="3187235"/>
            <a:ext cx="1871320" cy="760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de-DE" sz="2400" b="1" kern="100" spc="-34" dirty="0">
                <a:solidFill>
                  <a:srgbClr val="17301F"/>
                </a:solidFill>
                <a:latin typeface="Chakra Petch Bold" pitchFamily="34" charset="0"/>
                <a:cs typeface="Chakra Petch Bold" pitchFamily="34" charset="0"/>
              </a:rPr>
              <a:t>Mockup by Figma</a:t>
            </a:r>
            <a:endParaRPr lang="en-US" sz="2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B3DA93E-48D7-8E52-0CED-61EE4E54A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5008" y="0"/>
            <a:ext cx="9946992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513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86652"/>
            <a:ext cx="7823004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b="1" kern="100" spc="-34" dirty="0">
                <a:solidFill>
                  <a:srgbClr val="17301F"/>
                </a:solidFill>
                <a:latin typeface="Chakra Petch Bold" pitchFamily="34" charset="0"/>
                <a:ea typeface="Chakra Petch Bold" pitchFamily="34" charset="-122"/>
                <a:cs typeface="Chakra Petch Bold" pitchFamily="34" charset="0"/>
              </a:rPr>
              <a:t>Technical foundations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7987" y="1112441"/>
            <a:ext cx="11175621" cy="31651"/>
          </a:xfrm>
          <a:prstGeom prst="roundRect">
            <a:avLst>
              <a:gd name="adj" fmla="val 49998"/>
            </a:avLst>
          </a:prstGeom>
          <a:solidFill>
            <a:srgbClr val="1730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7987" y="1358503"/>
            <a:ext cx="3521979" cy="3283744"/>
          </a:xfrm>
          <a:prstGeom prst="roundRect">
            <a:avLst>
              <a:gd name="adj" fmla="val 348"/>
            </a:avLst>
          </a:prstGeom>
          <a:solidFill>
            <a:srgbClr val="FFFFFF"/>
          </a:solidFill>
          <a:ln w="25399">
            <a:solidFill>
              <a:srgbClr val="A4CD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7380" y="1637903"/>
            <a:ext cx="85832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ukta SemiBold" pitchFamily="34" charset="0"/>
                <a:ea typeface="Mukta SemiBold" pitchFamily="34" charset="-122"/>
                <a:cs typeface="Mukta SemiBold" pitchFamily="34" charset="0"/>
              </a:rPr>
              <a:t>01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87380" y="1993503"/>
            <a:ext cx="2963094" cy="19050"/>
          </a:xfrm>
          <a:prstGeom prst="rect">
            <a:avLst/>
          </a:prstGeom>
          <a:solidFill>
            <a:srgbClr val="C83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87380" y="2171392"/>
            <a:ext cx="248715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84" dirty="0">
                <a:solidFill>
                  <a:srgbClr val="00000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TIER 01 · CLIENT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7380" y="2507877"/>
            <a:ext cx="2963193" cy="389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600" kern="100" spc="-13" dirty="0">
                <a:solidFill>
                  <a:srgbClr val="000000"/>
                </a:solidFill>
                <a:latin typeface="Mukta SemiBold" pitchFamily="34" charset="0"/>
                <a:ea typeface="Mukta SemiBold" pitchFamily="34" charset="-122"/>
                <a:cs typeface="Mukta SemiBold" pitchFamily="34" charset="0"/>
              </a:rPr>
              <a:t>React Frontend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87380" y="3021905"/>
            <a:ext cx="2963193" cy="536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ukta" pitchFamily="34" charset="0"/>
                <a:ea typeface="Mukta" pitchFamily="34" charset="-122"/>
                <a:cs typeface="Mukta" pitchFamily="34" charset="0"/>
              </a:rPr>
              <a:t>Draws the buttons, graphs, and simulation on the screen.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34759" y="1358503"/>
            <a:ext cx="3522078" cy="3283744"/>
          </a:xfrm>
          <a:prstGeom prst="rect">
            <a:avLst/>
          </a:prstGeom>
          <a:solidFill>
            <a:srgbClr val="1C42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88752" y="1612503"/>
            <a:ext cx="88213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ukta SemiBold" pitchFamily="34" charset="0"/>
                <a:ea typeface="Mukta SemiBold" pitchFamily="34" charset="-122"/>
                <a:cs typeface="Mukta SemiBold" pitchFamily="34" charset="0"/>
              </a:rPr>
              <a:t>02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88752" y="1968103"/>
            <a:ext cx="3014091" cy="19050"/>
          </a:xfrm>
          <a:prstGeom prst="rect">
            <a:avLst/>
          </a:prstGeom>
          <a:solidFill>
            <a:srgbClr val="C83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88752" y="2145992"/>
            <a:ext cx="248715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84" dirty="0">
                <a:solidFill>
                  <a:srgbClr val="FFFFFF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TIER 02 · SERVER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88752" y="2482477"/>
            <a:ext cx="3014091" cy="389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600" kern="100" spc="-13" dirty="0">
                <a:solidFill>
                  <a:srgbClr val="FFFFFF"/>
                </a:solidFill>
                <a:latin typeface="Mukta SemiBold" pitchFamily="34" charset="0"/>
                <a:ea typeface="Mukta SemiBold" pitchFamily="34" charset="-122"/>
                <a:cs typeface="Mukta SemiBold" pitchFamily="34" charset="0"/>
              </a:rPr>
              <a:t>Spring Boot Core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88752" y="2996505"/>
            <a:ext cx="3014091" cy="13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ukta" pitchFamily="34" charset="0"/>
                <a:ea typeface="Mukta" pitchFamily="34" charset="-122"/>
                <a:cs typeface="Mukta" pitchFamily="34" charset="0"/>
              </a:rPr>
              <a:t>Spring Boot Runs the backend server and executes the physics calculations. REST API Sends user inputs to Java and sends calculated coordinates back to React.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61629" y="1358503"/>
            <a:ext cx="3522078" cy="3283744"/>
          </a:xfrm>
          <a:prstGeom prst="roundRect">
            <a:avLst>
              <a:gd name="adj" fmla="val 348"/>
            </a:avLst>
          </a:prstGeom>
          <a:solidFill>
            <a:srgbClr val="FFFFFF"/>
          </a:solidFill>
          <a:ln w="25399">
            <a:solidFill>
              <a:srgbClr val="A4CD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41022" y="1637903"/>
            <a:ext cx="884215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ukta SemiBold" pitchFamily="34" charset="0"/>
                <a:ea typeface="Mukta SemiBold" pitchFamily="34" charset="-122"/>
                <a:cs typeface="Mukta SemiBold" pitchFamily="34" charset="0"/>
              </a:rPr>
              <a:t>03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441022" y="1993503"/>
            <a:ext cx="2963292" cy="19050"/>
          </a:xfrm>
          <a:prstGeom prst="rect">
            <a:avLst/>
          </a:prstGeom>
          <a:solidFill>
            <a:srgbClr val="C83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441022" y="2171392"/>
            <a:ext cx="236978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84" dirty="0">
                <a:solidFill>
                  <a:srgbClr val="00000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TIER 03 · CLOUD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41022" y="2507877"/>
            <a:ext cx="2963292" cy="389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600" kern="100" spc="-13" dirty="0">
                <a:solidFill>
                  <a:srgbClr val="000000"/>
                </a:solidFill>
                <a:latin typeface="Mukta SemiBold" pitchFamily="34" charset="0"/>
                <a:ea typeface="Mukta SemiBold" pitchFamily="34" charset="-122"/>
                <a:cs typeface="Mukta SemiBold" pitchFamily="34" charset="0"/>
              </a:rPr>
              <a:t>AWS &amp; Maven Build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441022" y="3021905"/>
            <a:ext cx="2963292" cy="13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ukta" pitchFamily="34" charset="0"/>
                <a:ea typeface="Mukta" pitchFamily="34" charset="-122"/>
                <a:cs typeface="Mukta" pitchFamily="34" charset="0"/>
              </a:rPr>
              <a:t>MAVEN Downloads necessary libraries and builds the Java project (pom.xml).  AWS used to Host the website on the internet so others can use it.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44163"/>
            <a:ext cx="1117572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84" dirty="0">
                <a:solidFill>
                  <a:srgbClr val="3E5A4B"/>
                </a:solidFill>
                <a:latin typeface="Geist Mono Bold" pitchFamily="34" charset="0"/>
                <a:ea typeface="Geist Mono Bold" pitchFamily="34" charset="-122"/>
                <a:cs typeface="Geist Mono Bold" pitchFamily="34" charset="0"/>
              </a:rPr>
              <a:t>AGILE ENGINEERING PROCESS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7987" y="637038"/>
            <a:ext cx="11175720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b="1" kern="100" spc="-34" dirty="0">
                <a:solidFill>
                  <a:srgbClr val="17301F"/>
                </a:solidFill>
                <a:latin typeface="Chakra Petch Bold" pitchFamily="34" charset="0"/>
                <a:ea typeface="Chakra Petch Bold" pitchFamily="34" charset="-122"/>
                <a:cs typeface="Chakra Petch Bold" pitchFamily="34" charset="0"/>
              </a:rPr>
              <a:t>Scrum Method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7987" y="1138892"/>
            <a:ext cx="11175621" cy="31651"/>
          </a:xfrm>
          <a:prstGeom prst="roundRect">
            <a:avLst>
              <a:gd name="adj" fmla="val 49998"/>
            </a:avLst>
          </a:prstGeom>
          <a:solidFill>
            <a:srgbClr val="1730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507987" y="6127634"/>
            <a:ext cx="10791384" cy="560487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25399">
            <a:solidFill>
              <a:srgbClr val="A4CD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787380" y="6279464"/>
            <a:ext cx="10896327" cy="268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ukta Bold" pitchFamily="34" charset="0"/>
                <a:ea typeface="Mukta Bold" pitchFamily="34" charset="-122"/>
                <a:cs typeface="Mukta Bold" pitchFamily="34" charset="0"/>
              </a:rPr>
              <a:t>Tooling:</a:t>
            </a:r>
            <a:r>
              <a:rPr lang="en-US" sz="1600" dirty="0">
                <a:solidFill>
                  <a:srgbClr val="000000"/>
                </a:solidFill>
                <a:latin typeface="Mukta" pitchFamily="34" charset="0"/>
                <a:ea typeface="Mukta" pitchFamily="34" charset="-122"/>
                <a:cs typeface="Mukta" pitchFamily="34" charset="0"/>
              </a:rPr>
              <a:t> </a:t>
            </a:r>
            <a:r>
              <a:rPr lang="en-US" sz="1600" b="1" dirty="0">
                <a:solidFill>
                  <a:srgbClr val="000000"/>
                </a:solidFill>
                <a:latin typeface="Mukta Bold" pitchFamily="34" charset="0"/>
                <a:ea typeface="Mukta Bold" pitchFamily="34" charset="-122"/>
                <a:cs typeface="Mukta Bold" pitchFamily="34" charset="0"/>
              </a:rPr>
              <a:t>Trello</a:t>
            </a:r>
            <a:r>
              <a:rPr lang="en-US" sz="1600" dirty="0">
                <a:solidFill>
                  <a:srgbClr val="000000"/>
                </a:solidFill>
                <a:latin typeface="Mukta" pitchFamily="34" charset="0"/>
                <a:ea typeface="Mukta" pitchFamily="34" charset="-122"/>
                <a:cs typeface="Mukta" pitchFamily="34" charset="0"/>
              </a:rPr>
              <a:t> (Backlog &amp; Task Board) - </a:t>
            </a:r>
            <a:r>
              <a:rPr lang="en-US" sz="1600" b="1" dirty="0">
                <a:solidFill>
                  <a:srgbClr val="000000"/>
                </a:solidFill>
                <a:latin typeface="Mukta Bold" pitchFamily="34" charset="0"/>
                <a:ea typeface="Mukta Bold" pitchFamily="34" charset="-122"/>
                <a:cs typeface="Mukta Bold" pitchFamily="34" charset="0"/>
              </a:rPr>
              <a:t>GitHub</a:t>
            </a:r>
            <a:r>
              <a:rPr lang="en-US" sz="1600" dirty="0">
                <a:solidFill>
                  <a:srgbClr val="000000"/>
                </a:solidFill>
                <a:latin typeface="Mukta" pitchFamily="34" charset="0"/>
                <a:ea typeface="Mukta" pitchFamily="34" charset="-122"/>
                <a:cs typeface="Mukta" pitchFamily="34" charset="0"/>
              </a:rPr>
              <a:t> (Sprint Branching)</a:t>
            </a:r>
            <a:endParaRPr lang="en-US" sz="1600" dirty="0"/>
          </a:p>
        </p:txBody>
      </p:sp>
      <p:pic>
        <p:nvPicPr>
          <p:cNvPr id="19" name="図 1">
            <a:extLst>
              <a:ext uri="{FF2B5EF4-FFF2-40B4-BE49-F238E27FC236}">
                <a16:creationId xmlns:a16="http://schemas.microsoft.com/office/drawing/2014/main" id="{5804F71F-DDB1-D618-5931-E3BD541BDF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8338" y="1289809"/>
            <a:ext cx="8275324" cy="4656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DA4C9-3BA8-35C6-9C16-2134F03E0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9606221-F232-9AEE-72DB-562171326C5E}"/>
              </a:ext>
            </a:extLst>
          </p:cNvPr>
          <p:cNvSpPr/>
          <p:nvPr/>
        </p:nvSpPr>
        <p:spPr>
          <a:xfrm>
            <a:off x="507987" y="209508"/>
            <a:ext cx="1117572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84" dirty="0">
                <a:solidFill>
                  <a:srgbClr val="3E5A4B"/>
                </a:solidFill>
                <a:latin typeface="Geist Mono Bold" pitchFamily="34" charset="0"/>
                <a:ea typeface="Geist Mono Bold" pitchFamily="34" charset="-122"/>
                <a:cs typeface="Geist Mono Bold" pitchFamily="34" charset="0"/>
              </a:rPr>
              <a:t>Task Board</a:t>
            </a:r>
            <a:endParaRPr lang="en-US" sz="1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CCBD208-4274-E284-C5A4-7D3820650BC9}"/>
              </a:ext>
            </a:extLst>
          </p:cNvPr>
          <p:cNvSpPr/>
          <p:nvPr/>
        </p:nvSpPr>
        <p:spPr>
          <a:xfrm>
            <a:off x="507888" y="491723"/>
            <a:ext cx="11175720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b="1" kern="100" spc="-34" dirty="0">
                <a:solidFill>
                  <a:srgbClr val="17301F"/>
                </a:solidFill>
                <a:latin typeface="Chakra Petch Bold" pitchFamily="34" charset="0"/>
                <a:ea typeface="Chakra Petch Bold" pitchFamily="34" charset="-122"/>
                <a:cs typeface="Chakra Petch Bold" pitchFamily="34" charset="0"/>
              </a:rPr>
              <a:t>Trello Board</a:t>
            </a:r>
            <a:endParaRPr lang="en-US" sz="3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43D9EA7-7F39-35C8-C1EA-84F12CB5112B}"/>
              </a:ext>
            </a:extLst>
          </p:cNvPr>
          <p:cNvSpPr/>
          <p:nvPr/>
        </p:nvSpPr>
        <p:spPr>
          <a:xfrm>
            <a:off x="507987" y="1054915"/>
            <a:ext cx="11175621" cy="31651"/>
          </a:xfrm>
          <a:prstGeom prst="roundRect">
            <a:avLst>
              <a:gd name="adj" fmla="val 49998"/>
            </a:avLst>
          </a:prstGeom>
          <a:solidFill>
            <a:srgbClr val="1730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9736E81-F553-70CA-A465-3CCBF963D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2" y="1026946"/>
            <a:ext cx="12192000" cy="592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393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62039"/>
            <a:ext cx="782300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84" dirty="0">
                <a:solidFill>
                  <a:srgbClr val="3E5A4B"/>
                </a:solidFill>
                <a:latin typeface="Geist Mono Bold" pitchFamily="34" charset="0"/>
                <a:ea typeface="Geist Mono Bold" pitchFamily="34" charset="-122"/>
                <a:cs typeface="Geist Mono Bold" pitchFamily="34" charset="0"/>
              </a:rPr>
              <a:t>COLLABORATION &amp; VERSION CONTROL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7987" y="701572"/>
            <a:ext cx="7823004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b="1" kern="100" spc="-34" dirty="0">
                <a:solidFill>
                  <a:srgbClr val="17301F"/>
                </a:solidFill>
                <a:latin typeface="Chakra Petch Bold" pitchFamily="34" charset="0"/>
                <a:ea typeface="Chakra Petch Bold" pitchFamily="34" charset="-122"/>
                <a:cs typeface="Chakra Petch Bold" pitchFamily="34" charset="0"/>
              </a:rPr>
              <a:t>Our GitHub Repo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7987" y="1427361"/>
            <a:ext cx="11175621" cy="31651"/>
          </a:xfrm>
          <a:prstGeom prst="roundRect">
            <a:avLst>
              <a:gd name="adj" fmla="val 49998"/>
            </a:avLst>
          </a:prstGeom>
          <a:solidFill>
            <a:srgbClr val="1730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7987" y="1698823"/>
            <a:ext cx="3521979" cy="4854377"/>
          </a:xfrm>
          <a:prstGeom prst="roundRect">
            <a:avLst>
              <a:gd name="adj" fmla="val 325"/>
            </a:avLst>
          </a:prstGeom>
          <a:noFill/>
          <a:ln w="25399">
            <a:solidFill>
              <a:srgbClr val="A4CD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12780" y="1984662"/>
            <a:ext cx="260452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84" dirty="0">
                <a:solidFill>
                  <a:srgbClr val="435F51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REPO ARCHITECTURE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780" y="2321147"/>
            <a:ext cx="2912394" cy="389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600" kern="100" spc="-13" dirty="0">
                <a:solidFill>
                  <a:srgbClr val="17301F"/>
                </a:solidFill>
                <a:latin typeface="Mukta SemiBold" pitchFamily="34" charset="0"/>
                <a:ea typeface="Mukta SemiBold" pitchFamily="34" charset="-122"/>
                <a:cs typeface="Mukta SemiBold" pitchFamily="34" charset="0"/>
              </a:rPr>
              <a:t>Shared Repository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12780" y="2835176"/>
            <a:ext cx="2912394" cy="1609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17301F"/>
                </a:solidFill>
                <a:latin typeface="Mukta" pitchFamily="34" charset="0"/>
                <a:ea typeface="Mukta" pitchFamily="34" charset="-122"/>
                <a:cs typeface="Mukta" pitchFamily="34" charset="0"/>
              </a:rPr>
              <a:t>Single shared repository containing the Spring Boot backend (com.ejust.Backend), Maven configurations (pom.xml), project docs, and prepared frontend endpoints.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34759" y="1698823"/>
            <a:ext cx="3522078" cy="4854377"/>
          </a:xfrm>
          <a:prstGeom prst="roundRect">
            <a:avLst>
              <a:gd name="adj" fmla="val 325"/>
            </a:avLst>
          </a:prstGeom>
          <a:noFill/>
          <a:ln w="25399">
            <a:solidFill>
              <a:srgbClr val="A4CD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39551" y="1984662"/>
            <a:ext cx="1665742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84" dirty="0">
                <a:solidFill>
                  <a:srgbClr val="435F51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ISOLATION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39551" y="2321147"/>
            <a:ext cx="2912494" cy="389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600" kern="100" spc="-13" dirty="0">
                <a:solidFill>
                  <a:srgbClr val="17301F"/>
                </a:solidFill>
                <a:latin typeface="Mukta SemiBold" pitchFamily="34" charset="0"/>
                <a:ea typeface="Mukta SemiBold" pitchFamily="34" charset="-122"/>
                <a:cs typeface="Mukta SemiBold" pitchFamily="34" charset="0"/>
              </a:rPr>
              <a:t>Branching Model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39551" y="2835176"/>
            <a:ext cx="2912494" cy="1609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17301F"/>
                </a:solidFill>
                <a:latin typeface="Mukta" pitchFamily="34" charset="0"/>
                <a:ea typeface="Mukta" pitchFamily="34" charset="-122"/>
                <a:cs typeface="Mukta" pitchFamily="34" charset="0"/>
              </a:rPr>
              <a:t>Each contributor worked on a dedicated branch (e.g., Omar, Ali, Ayaka, Sameh) to develop their specific physics formulas in isolation before merging into main.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61629" y="1698823"/>
            <a:ext cx="3522078" cy="4854377"/>
          </a:xfrm>
          <a:prstGeom prst="roundRect">
            <a:avLst>
              <a:gd name="adj" fmla="val 325"/>
            </a:avLst>
          </a:prstGeom>
          <a:noFill/>
          <a:ln w="25399">
            <a:solidFill>
              <a:srgbClr val="A4CD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66422" y="1984662"/>
            <a:ext cx="201776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84" dirty="0">
                <a:solidFill>
                  <a:srgbClr val="435F51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VERIFICATION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66422" y="2321147"/>
            <a:ext cx="2912494" cy="389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600" kern="100" spc="-13" dirty="0">
                <a:solidFill>
                  <a:srgbClr val="17301F"/>
                </a:solidFill>
                <a:latin typeface="Mukta SemiBold" pitchFamily="34" charset="0"/>
                <a:ea typeface="Mukta SemiBold" pitchFamily="34" charset="-122"/>
                <a:cs typeface="Mukta SemiBold" pitchFamily="34" charset="0"/>
              </a:rPr>
              <a:t>Quality Standards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466422" y="2835176"/>
            <a:ext cx="2912494" cy="1609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17301F"/>
                </a:solidFill>
                <a:latin typeface="Mukta" pitchFamily="34" charset="0"/>
                <a:ea typeface="Mukta" pitchFamily="34" charset="-122"/>
                <a:cs typeface="Mukta" pitchFamily="34" charset="0"/>
              </a:rPr>
              <a:t>Changes integrated via Pull Requests with peer review to prevent syntax errors, avoid formula calculation regressions, and resolve Git merge conflicts cleanly.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71FEA-C62F-228D-FEE9-8853F668C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6AE81FD-E3CB-156E-71AA-A54B19FA0EE4}"/>
              </a:ext>
            </a:extLst>
          </p:cNvPr>
          <p:cNvSpPr/>
          <p:nvPr/>
        </p:nvSpPr>
        <p:spPr>
          <a:xfrm>
            <a:off x="507987" y="362039"/>
            <a:ext cx="782300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84" dirty="0">
                <a:solidFill>
                  <a:srgbClr val="3E5A4B"/>
                </a:solidFill>
                <a:latin typeface="Geist Mono Bold" pitchFamily="34" charset="0"/>
                <a:ea typeface="Geist Mono Bold" pitchFamily="34" charset="-122"/>
                <a:cs typeface="Geist Mono Bold" pitchFamily="34" charset="0"/>
              </a:rPr>
              <a:t>COLLABORATION &amp; VERSION CONTROL</a:t>
            </a:r>
            <a:endParaRPr lang="en-US" sz="1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0B1EBF6-2CF8-0BD6-A7ED-E46B92FE8886}"/>
              </a:ext>
            </a:extLst>
          </p:cNvPr>
          <p:cNvSpPr/>
          <p:nvPr/>
        </p:nvSpPr>
        <p:spPr>
          <a:xfrm>
            <a:off x="507987" y="701572"/>
            <a:ext cx="7823004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b="1" kern="100" spc="-34" dirty="0">
                <a:solidFill>
                  <a:srgbClr val="17301F"/>
                </a:solidFill>
                <a:latin typeface="Chakra Petch Bold" pitchFamily="34" charset="0"/>
                <a:ea typeface="Chakra Petch Bold" pitchFamily="34" charset="-122"/>
                <a:cs typeface="Chakra Petch Bold" pitchFamily="34" charset="0"/>
              </a:rPr>
              <a:t>Our GitHub </a:t>
            </a:r>
            <a:r>
              <a:rPr lang="en-US" sz="2000" b="1" kern="100" spc="-34" dirty="0">
                <a:solidFill>
                  <a:srgbClr val="17301F"/>
                </a:solidFill>
                <a:latin typeface="Chakra Petch Bold" pitchFamily="34" charset="0"/>
                <a:ea typeface="Chakra Petch Bold" pitchFamily="34" charset="-122"/>
                <a:cs typeface="Chakra Petch Bold" pitchFamily="34" charset="0"/>
              </a:rPr>
              <a:t>(Branching &amp; Merging strategy)</a:t>
            </a:r>
            <a:endParaRPr lang="en-US" sz="3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EF83037-2E41-97CE-E947-664AD6E185EA}"/>
              </a:ext>
            </a:extLst>
          </p:cNvPr>
          <p:cNvSpPr/>
          <p:nvPr/>
        </p:nvSpPr>
        <p:spPr>
          <a:xfrm>
            <a:off x="507987" y="1296730"/>
            <a:ext cx="11175621" cy="31651"/>
          </a:xfrm>
          <a:prstGeom prst="roundRect">
            <a:avLst>
              <a:gd name="adj" fmla="val 49998"/>
            </a:avLst>
          </a:prstGeom>
          <a:solidFill>
            <a:srgbClr val="1730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1A0608-5E30-D364-3942-C4AC8FA50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742" y="1935350"/>
            <a:ext cx="10646515" cy="362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216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7171C-84EE-C178-FABD-DB59694C7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328DC72-F262-1F9A-3801-29BE1125A4E6}"/>
              </a:ext>
            </a:extLst>
          </p:cNvPr>
          <p:cNvSpPr/>
          <p:nvPr/>
        </p:nvSpPr>
        <p:spPr>
          <a:xfrm>
            <a:off x="507987" y="362039"/>
            <a:ext cx="782300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84" dirty="0">
                <a:solidFill>
                  <a:srgbClr val="3E5A4B"/>
                </a:solidFill>
                <a:latin typeface="Geist Mono Bold" pitchFamily="34" charset="0"/>
                <a:ea typeface="Geist Mono Bold" pitchFamily="34" charset="-122"/>
                <a:cs typeface="Geist Mono Bold" pitchFamily="34" charset="0"/>
              </a:rPr>
              <a:t>COLLABORATION &amp; VERSION CONTROL</a:t>
            </a:r>
            <a:endParaRPr lang="en-US" sz="1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EDD4579-F05D-67E1-3D2A-2FC9B789C119}"/>
              </a:ext>
            </a:extLst>
          </p:cNvPr>
          <p:cNvSpPr/>
          <p:nvPr/>
        </p:nvSpPr>
        <p:spPr>
          <a:xfrm>
            <a:off x="507986" y="701572"/>
            <a:ext cx="9942299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kern="100" spc="-34" dirty="0">
                <a:solidFill>
                  <a:srgbClr val="17301F"/>
                </a:solidFill>
                <a:latin typeface="Chakra Petch Bold" pitchFamily="34" charset="0"/>
                <a:ea typeface="Chakra Petch Bold" pitchFamily="34" charset="-122"/>
                <a:cs typeface="Chakra Petch Bold" pitchFamily="34" charset="0"/>
              </a:rPr>
              <a:t>Our GitHub </a:t>
            </a:r>
            <a:r>
              <a:rPr lang="en-US" sz="2000" b="1" kern="100" spc="-34" dirty="0">
                <a:solidFill>
                  <a:srgbClr val="17301F"/>
                </a:solidFill>
                <a:latin typeface="Chakra Petch Bold" pitchFamily="34" charset="0"/>
                <a:ea typeface="Chakra Petch Bold" pitchFamily="34" charset="-122"/>
                <a:cs typeface="Chakra Petch Bold" pitchFamily="34" charset="0"/>
              </a:rPr>
              <a:t>(Repository Metrics &amp; Team Activity)</a:t>
            </a:r>
            <a:endParaRPr lang="en-US" sz="3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D03F525-A86E-EA4F-1027-BE11B1005459}"/>
              </a:ext>
            </a:extLst>
          </p:cNvPr>
          <p:cNvSpPr/>
          <p:nvPr/>
        </p:nvSpPr>
        <p:spPr>
          <a:xfrm>
            <a:off x="507987" y="1296730"/>
            <a:ext cx="11175621" cy="31651"/>
          </a:xfrm>
          <a:prstGeom prst="roundRect">
            <a:avLst>
              <a:gd name="adj" fmla="val 49998"/>
            </a:avLst>
          </a:prstGeom>
          <a:solidFill>
            <a:srgbClr val="1730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A10D6AE-0724-5D95-1BC1-A0BD7E110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0128"/>
            <a:ext cx="5968123" cy="36526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9EBACA-A703-3471-08C1-E6050A68F3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923" y="3113088"/>
            <a:ext cx="6211078" cy="371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293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188384"/>
            <a:ext cx="11785305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84" dirty="0">
                <a:solidFill>
                  <a:srgbClr val="3E5A4B"/>
                </a:solidFill>
                <a:latin typeface="Geist Mono Bold" pitchFamily="34" charset="0"/>
                <a:ea typeface="Geist Mono Bold" pitchFamily="34" charset="-122"/>
                <a:cs typeface="Geist Mono Bold" pitchFamily="34" charset="0"/>
              </a:rPr>
              <a:t>ENGINEERING BUILD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06390" y="499924"/>
            <a:ext cx="11429714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b="1" kern="100" spc="-34" dirty="0">
                <a:solidFill>
                  <a:srgbClr val="17301F"/>
                </a:solidFill>
                <a:latin typeface="Chakra Petch Bold" pitchFamily="34" charset="0"/>
                <a:ea typeface="Chakra Petch Bold" pitchFamily="34" charset="-122"/>
                <a:cs typeface="Chakra Petch Bold" pitchFamily="34" charset="0"/>
              </a:rPr>
              <a:t>Coding &amp; Implementation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06390" y="1111154"/>
            <a:ext cx="11429714" cy="31651"/>
          </a:xfrm>
          <a:prstGeom prst="roundRect">
            <a:avLst>
              <a:gd name="adj" fmla="val 49998"/>
            </a:avLst>
          </a:prstGeom>
          <a:solidFill>
            <a:srgbClr val="1730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0D002E-753A-FE66-A909-4537E28DA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654" y="1445546"/>
            <a:ext cx="4258048" cy="50772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DED621-F5D0-8AF7-6EE7-5E6C860CDB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008" y="1232227"/>
            <a:ext cx="7548644" cy="552960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365699"/>
            <a:ext cx="11734506" cy="18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kern="100" spc="74" dirty="0">
                <a:solidFill>
                  <a:srgbClr val="000000"/>
                </a:solidFill>
                <a:latin typeface="Geist Mono Bold" pitchFamily="34" charset="0"/>
                <a:ea typeface="Geist Mono Bold" pitchFamily="34" charset="-122"/>
                <a:cs typeface="Geist Mono Bold" pitchFamily="34" charset="0"/>
              </a:rPr>
              <a:t>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653305"/>
            <a:ext cx="11277318" cy="411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30" dirty="0">
                <a:solidFill>
                  <a:srgbClr val="000000"/>
                </a:solidFill>
                <a:latin typeface="Chakra Petch Bold" pitchFamily="34" charset="0"/>
                <a:ea typeface="Chakra Petch Bold" pitchFamily="34" charset="-122"/>
                <a:cs typeface="Chakra Petch Bold" pitchFamily="34" charset="0"/>
              </a:rPr>
              <a:t>What's Next: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189" y="1101074"/>
            <a:ext cx="5638659" cy="53912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61981" y="1490264"/>
            <a:ext cx="5029074" cy="343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300" kern="100" spc="-11" dirty="0">
                <a:solidFill>
                  <a:srgbClr val="000000"/>
                </a:solidFill>
                <a:latin typeface="Mukta SemiBold" pitchFamily="34" charset="0"/>
                <a:ea typeface="Mukta SemiBold" pitchFamily="34" charset="-122"/>
                <a:cs typeface="Mukta SemiBold" pitchFamily="34" charset="0"/>
              </a:rPr>
              <a:t>Engineering Roadmap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61981" y="1972667"/>
            <a:ext cx="5029074" cy="2930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355600" indent="-355600" algn="l">
              <a:lnSpc>
                <a:spcPct val="104000"/>
              </a:lnSpc>
              <a:buSzPct val="100000"/>
              <a:buChar char="•"/>
            </a:pPr>
            <a:r>
              <a:rPr lang="en-US" sz="1750" b="1" dirty="0">
                <a:solidFill>
                  <a:srgbClr val="000000"/>
                </a:solidFill>
                <a:latin typeface="Mukta Bold" pitchFamily="34" charset="0"/>
                <a:ea typeface="Mukta Bold" pitchFamily="34" charset="-122"/>
                <a:cs typeface="Mukta Bold" pitchFamily="34" charset="0"/>
              </a:rPr>
              <a:t>Interactive Frontend (React):</a:t>
            </a:r>
            <a:r>
              <a:rPr lang="en-US" sz="1750" dirty="0">
                <a:solidFill>
                  <a:srgbClr val="000000"/>
                </a:solidFill>
                <a:latin typeface="Mukta" pitchFamily="34" charset="0"/>
                <a:ea typeface="Mukta" pitchFamily="34" charset="-122"/>
                <a:cs typeface="Mukta" pitchFamily="34" charset="0"/>
              </a:rPr>
              <a:t> Build the Figma-based UI with real-time sliders and input fields.</a:t>
            </a:r>
          </a:p>
          <a:p>
            <a:pPr marL="355600" indent="-355600" algn="l">
              <a:lnSpc>
                <a:spcPct val="104000"/>
              </a:lnSpc>
              <a:buSzPct val="100000"/>
              <a:buChar char="•"/>
            </a:pPr>
            <a:endParaRPr lang="en-US" sz="1750" dirty="0"/>
          </a:p>
          <a:p>
            <a:pPr marL="355600" indent="-355600" algn="l">
              <a:lnSpc>
                <a:spcPct val="104000"/>
              </a:lnSpc>
              <a:buSzPct val="100000"/>
              <a:buChar char="•"/>
            </a:pPr>
            <a:r>
              <a:rPr lang="en-US" sz="1750" b="1" dirty="0">
                <a:solidFill>
                  <a:srgbClr val="000000"/>
                </a:solidFill>
                <a:latin typeface="Mukta Bold" pitchFamily="34" charset="0"/>
                <a:ea typeface="Mukta Bold" pitchFamily="34" charset="-122"/>
                <a:cs typeface="Mukta Bold" pitchFamily="34" charset="0"/>
              </a:rPr>
              <a:t>Visual Simulation Engine:</a:t>
            </a:r>
            <a:r>
              <a:rPr lang="en-US" sz="1750" dirty="0">
                <a:solidFill>
                  <a:srgbClr val="000000"/>
                </a:solidFill>
                <a:latin typeface="Mukta" pitchFamily="34" charset="0"/>
                <a:ea typeface="Mukta" pitchFamily="34" charset="-122"/>
                <a:cs typeface="Mukta" pitchFamily="34" charset="0"/>
              </a:rPr>
              <a:t> Implement 2D Canvas/SVG animations for trajectories and oscillating springs.</a:t>
            </a:r>
          </a:p>
          <a:p>
            <a:pPr marL="355600" indent="-355600" algn="l">
              <a:lnSpc>
                <a:spcPct val="104000"/>
              </a:lnSpc>
              <a:buSzPct val="100000"/>
              <a:buChar char="•"/>
            </a:pPr>
            <a:endParaRPr lang="en-US" sz="1750" dirty="0"/>
          </a:p>
          <a:p>
            <a:pPr marL="355600" indent="-355600" algn="l">
              <a:lnSpc>
                <a:spcPct val="104000"/>
              </a:lnSpc>
              <a:buSzPct val="100000"/>
              <a:buChar char="•"/>
            </a:pPr>
            <a:r>
              <a:rPr lang="en-US" sz="1750" b="1" dirty="0">
                <a:solidFill>
                  <a:srgbClr val="000000"/>
                </a:solidFill>
                <a:latin typeface="Mukta Bold" pitchFamily="34" charset="0"/>
                <a:ea typeface="Mukta Bold" pitchFamily="34" charset="-122"/>
                <a:cs typeface="Mukta Bold" pitchFamily="34" charset="0"/>
              </a:rPr>
              <a:t>REST API Endpoints:</a:t>
            </a:r>
            <a:r>
              <a:rPr lang="en-US" sz="1750" dirty="0">
                <a:solidFill>
                  <a:srgbClr val="000000"/>
                </a:solidFill>
                <a:latin typeface="Mukta" pitchFamily="34" charset="0"/>
                <a:ea typeface="Mukta" pitchFamily="34" charset="-122"/>
                <a:cs typeface="Mukta" pitchFamily="34" charset="0"/>
              </a:rPr>
              <a:t> Expose Spring Boot controllers at /api/physics/... for calculation data.</a:t>
            </a:r>
          </a:p>
          <a:p>
            <a:pPr marL="355600" indent="-355600" algn="l">
              <a:lnSpc>
                <a:spcPct val="104000"/>
              </a:lnSpc>
              <a:buSzPct val="100000"/>
              <a:buChar char="•"/>
            </a:pPr>
            <a:endParaRPr lang="en-US" sz="1750" dirty="0"/>
          </a:p>
          <a:p>
            <a:pPr marL="355600" indent="-355600" algn="l">
              <a:lnSpc>
                <a:spcPct val="104000"/>
              </a:lnSpc>
              <a:buSzPct val="100000"/>
              <a:buChar char="•"/>
            </a:pPr>
            <a:r>
              <a:rPr lang="en-US" sz="1750" b="1" dirty="0">
                <a:solidFill>
                  <a:srgbClr val="000000"/>
                </a:solidFill>
                <a:latin typeface="Mukta Bold" pitchFamily="34" charset="0"/>
                <a:ea typeface="Mukta Bold" pitchFamily="34" charset="-122"/>
                <a:cs typeface="Mukta Bold" pitchFamily="34" charset="0"/>
              </a:rPr>
              <a:t>Automated QA &amp; Cloud CI/CD:</a:t>
            </a:r>
            <a:r>
              <a:rPr lang="en-US" sz="1750" dirty="0">
                <a:solidFill>
                  <a:srgbClr val="000000"/>
                </a:solidFill>
                <a:latin typeface="Mukta" pitchFamily="34" charset="0"/>
                <a:ea typeface="Mukta" pitchFamily="34" charset="-122"/>
                <a:cs typeface="Mukta" pitchFamily="34" charset="0"/>
              </a:rPr>
              <a:t> Add comprehensive JUnit suites and prepare AWS deployment.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6095848" y="1091737"/>
            <a:ext cx="5638659" cy="53912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640" y="1490264"/>
            <a:ext cx="5029074" cy="343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300" kern="100" spc="-11" dirty="0">
                <a:solidFill>
                  <a:srgbClr val="000000"/>
                </a:solidFill>
                <a:latin typeface="Mukta SemiBold" pitchFamily="34" charset="0"/>
                <a:ea typeface="Mukta SemiBold" pitchFamily="34" charset="-122"/>
                <a:cs typeface="Mukta SemiBold" pitchFamily="34" charset="0"/>
              </a:rPr>
              <a:t>Team Workload &amp; Governance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400640" y="1982766"/>
            <a:ext cx="5333867" cy="18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kern="100" spc="74" dirty="0">
                <a:solidFill>
                  <a:srgbClr val="000000"/>
                </a:solidFill>
                <a:latin typeface="Geist Mono Bold" pitchFamily="34" charset="0"/>
                <a:ea typeface="Geist Mono Bold" pitchFamily="34" charset="-122"/>
                <a:cs typeface="Geist Mono Bold" pitchFamily="34" charset="0"/>
              </a:rPr>
              <a:t>4-MEMBER BALANCED DISTRIBUTION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640" y="2276971"/>
            <a:ext cx="5029074" cy="2373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355600" indent="-355600">
              <a:buSzPct val="100000"/>
              <a:buChar char="•"/>
            </a:pPr>
            <a:r>
              <a:rPr lang="en-US" sz="1750" b="1" dirty="0">
                <a:solidFill>
                  <a:srgbClr val="000000"/>
                </a:solidFill>
                <a:latin typeface="Mukta Bold" pitchFamily="34" charset="0"/>
                <a:ea typeface="Mukta Bold" pitchFamily="34" charset="-122"/>
                <a:cs typeface="Mukta Bold" pitchFamily="34" charset="0"/>
              </a:rPr>
              <a:t>Ayaka · Frontend UI Lead:</a:t>
            </a:r>
            <a:r>
              <a:rPr lang="en-US" sz="1750" dirty="0">
                <a:solidFill>
                  <a:srgbClr val="000000"/>
                </a:solidFill>
                <a:latin typeface="Mukta" pitchFamily="34" charset="0"/>
                <a:ea typeface="Mukta" pitchFamily="34" charset="-122"/>
                <a:cs typeface="Mukta" pitchFamily="34" charset="0"/>
              </a:rPr>
              <a:t> </a:t>
            </a:r>
            <a:r>
              <a:rPr lang="en-US" sz="1750" dirty="0">
                <a:solidFill>
                  <a:srgbClr val="000000"/>
                </a:solidFill>
                <a:latin typeface="Mukta" pitchFamily="34" charset="0"/>
                <a:cs typeface="Mukta" pitchFamily="34" charset="0"/>
              </a:rPr>
              <a:t>Web pages, navigation, and user controls (sliders &amp; buttons).</a:t>
            </a:r>
          </a:p>
          <a:p>
            <a:pPr marL="355600" indent="-355600">
              <a:buSzPct val="100000"/>
              <a:buChar char="•"/>
            </a:pPr>
            <a:endParaRPr lang="en-US" sz="1750" dirty="0">
              <a:solidFill>
                <a:srgbClr val="000000"/>
              </a:solidFill>
              <a:latin typeface="Mukta" pitchFamily="34" charset="0"/>
              <a:cs typeface="Mukta" pitchFamily="34" charset="0"/>
            </a:endParaRPr>
          </a:p>
          <a:p>
            <a:pPr marL="355600" indent="-355600">
              <a:lnSpc>
                <a:spcPct val="100000"/>
              </a:lnSpc>
              <a:buSzPct val="100000"/>
              <a:buChar char="•"/>
            </a:pPr>
            <a:r>
              <a:rPr lang="en-US" sz="1750" b="1" dirty="0">
                <a:solidFill>
                  <a:srgbClr val="000000"/>
                </a:solidFill>
                <a:latin typeface="Mukta Bold" pitchFamily="34" charset="0"/>
                <a:ea typeface="Mukta Bold" pitchFamily="34" charset="-122"/>
                <a:cs typeface="Mukta Bold" pitchFamily="34" charset="0"/>
              </a:rPr>
              <a:t>Ali · </a:t>
            </a:r>
            <a:r>
              <a:rPr lang="en-US" sz="1750" b="1" dirty="0">
                <a:solidFill>
                  <a:srgbClr val="000000"/>
                </a:solidFill>
                <a:latin typeface="Mukta Bold" pitchFamily="34" charset="0"/>
                <a:cs typeface="Mukta Bold" pitchFamily="34" charset="0"/>
              </a:rPr>
              <a:t>Graphics &amp; Animation Lead</a:t>
            </a:r>
            <a:r>
              <a:rPr lang="en-US" sz="1750" b="1" dirty="0">
                <a:solidFill>
                  <a:srgbClr val="000000"/>
                </a:solidFill>
                <a:latin typeface="Mukta Bold" pitchFamily="34" charset="0"/>
                <a:ea typeface="Mukta Bold" pitchFamily="34" charset="-122"/>
                <a:cs typeface="Mukta Bold" pitchFamily="34" charset="0"/>
              </a:rPr>
              <a:t>:</a:t>
            </a:r>
            <a:r>
              <a:rPr lang="en-US" sz="1750" dirty="0">
                <a:solidFill>
                  <a:srgbClr val="000000"/>
                </a:solidFill>
                <a:latin typeface="Mukta" pitchFamily="34" charset="0"/>
                <a:ea typeface="Mukta" pitchFamily="34" charset="-122"/>
                <a:cs typeface="Mukta" pitchFamily="34" charset="0"/>
              </a:rPr>
              <a:t> </a:t>
            </a:r>
            <a:r>
              <a:rPr lang="en-US" sz="1750" dirty="0">
                <a:solidFill>
                  <a:srgbClr val="000000"/>
                </a:solidFill>
                <a:latin typeface="Mukta" pitchFamily="34" charset="0"/>
                <a:cs typeface="Mukta" pitchFamily="34" charset="0"/>
              </a:rPr>
              <a:t>2D canvas drawing, motion playback, and visual graphs</a:t>
            </a:r>
            <a:r>
              <a:rPr lang="en-US" sz="1750" dirty="0">
                <a:solidFill>
                  <a:srgbClr val="000000"/>
                </a:solidFill>
                <a:latin typeface="Mukta" pitchFamily="34" charset="0"/>
                <a:ea typeface="Mukta" pitchFamily="34" charset="-122"/>
                <a:cs typeface="Mukta" pitchFamily="34" charset="0"/>
              </a:rPr>
              <a:t>.</a:t>
            </a:r>
          </a:p>
          <a:p>
            <a:pPr marL="355600" indent="-355600">
              <a:lnSpc>
                <a:spcPct val="100000"/>
              </a:lnSpc>
              <a:buSzPct val="100000"/>
              <a:buChar char="•"/>
            </a:pPr>
            <a:endParaRPr lang="en-US" sz="1750" dirty="0"/>
          </a:p>
          <a:p>
            <a:pPr marL="355600" indent="-355600">
              <a:buSzPct val="100000"/>
              <a:buChar char="•"/>
            </a:pPr>
            <a:r>
              <a:rPr lang="en-US" sz="1750" b="1" dirty="0">
                <a:solidFill>
                  <a:srgbClr val="000000"/>
                </a:solidFill>
                <a:latin typeface="Mukta Bold" pitchFamily="34" charset="0"/>
                <a:ea typeface="Mukta Bold" pitchFamily="34" charset="-122"/>
                <a:cs typeface="Mukta Bold" pitchFamily="34" charset="0"/>
              </a:rPr>
              <a:t>Sameh · Backend &amp; API Lead:</a:t>
            </a:r>
            <a:r>
              <a:rPr lang="en-US" sz="1750" dirty="0">
                <a:solidFill>
                  <a:srgbClr val="000000"/>
                </a:solidFill>
                <a:latin typeface="Mukta" pitchFamily="34" charset="0"/>
                <a:ea typeface="Mukta" pitchFamily="34" charset="-122"/>
                <a:cs typeface="Mukta" pitchFamily="34" charset="0"/>
              </a:rPr>
              <a:t> </a:t>
            </a:r>
            <a:r>
              <a:rPr lang="en-US" sz="1750" dirty="0">
                <a:solidFill>
                  <a:srgbClr val="000000"/>
                </a:solidFill>
                <a:latin typeface="Mukta" pitchFamily="34" charset="0"/>
                <a:cs typeface="Mukta" pitchFamily="34" charset="0"/>
              </a:rPr>
              <a:t>Spring Boot web controllers and physics calculation services</a:t>
            </a:r>
            <a:r>
              <a:rPr lang="en-US" sz="1750" dirty="0">
                <a:solidFill>
                  <a:srgbClr val="000000"/>
                </a:solidFill>
                <a:latin typeface="Mukta" pitchFamily="34" charset="0"/>
                <a:ea typeface="Mukta" pitchFamily="34" charset="-122"/>
                <a:cs typeface="Mukta" pitchFamily="34" charset="0"/>
              </a:rPr>
              <a:t>.</a:t>
            </a:r>
          </a:p>
          <a:p>
            <a:pPr marL="355600" indent="-355600">
              <a:buSzPct val="100000"/>
              <a:buChar char="•"/>
            </a:pPr>
            <a:endParaRPr lang="en-US" sz="1750" dirty="0"/>
          </a:p>
          <a:p>
            <a:pPr marL="355600" indent="-355600">
              <a:buSzPct val="100000"/>
              <a:buChar char="•"/>
            </a:pPr>
            <a:r>
              <a:rPr lang="en-US" sz="1750" b="1" dirty="0">
                <a:solidFill>
                  <a:srgbClr val="000000"/>
                </a:solidFill>
                <a:latin typeface="Mukta Bold" pitchFamily="34" charset="0"/>
                <a:ea typeface="Mukta Bold" pitchFamily="34" charset="-122"/>
                <a:cs typeface="Mukta Bold" pitchFamily="34" charset="0"/>
              </a:rPr>
              <a:t>Omar · </a:t>
            </a:r>
            <a:r>
              <a:rPr lang="en-US" sz="1750" b="1" dirty="0">
                <a:solidFill>
                  <a:srgbClr val="000000"/>
                </a:solidFill>
                <a:latin typeface="Mukta Bold" pitchFamily="34" charset="0"/>
                <a:cs typeface="Mukta Bold" pitchFamily="34" charset="0"/>
              </a:rPr>
              <a:t>Security &amp; QA Lead</a:t>
            </a:r>
            <a:r>
              <a:rPr lang="en-US" sz="1750" b="1" dirty="0">
                <a:solidFill>
                  <a:srgbClr val="000000"/>
                </a:solidFill>
                <a:latin typeface="Mukta Bold" pitchFamily="34" charset="0"/>
                <a:ea typeface="Mukta Bold" pitchFamily="34" charset="-122"/>
                <a:cs typeface="Mukta Bold" pitchFamily="34" charset="0"/>
              </a:rPr>
              <a:t>:</a:t>
            </a:r>
            <a:r>
              <a:rPr lang="en-US" sz="1750" dirty="0">
                <a:solidFill>
                  <a:srgbClr val="000000"/>
                </a:solidFill>
                <a:latin typeface="Mukta" pitchFamily="34" charset="0"/>
                <a:ea typeface="Mukta" pitchFamily="34" charset="-122"/>
                <a:cs typeface="Mukta" pitchFamily="34" charset="0"/>
              </a:rPr>
              <a:t> </a:t>
            </a:r>
            <a:r>
              <a:rPr lang="en-US" sz="1700" dirty="0">
                <a:solidFill>
                  <a:srgbClr val="000000"/>
                </a:solidFill>
                <a:latin typeface="Mukta" pitchFamily="34" charset="0"/>
                <a:cs typeface="Mukta" pitchFamily="34" charset="0"/>
              </a:rPr>
              <a:t>API rate limiting (DoS prevention), input sanitization, and automated JUnit testing.</a:t>
            </a:r>
          </a:p>
        </p:txBody>
      </p:sp>
      <p:sp>
        <p:nvSpPr>
          <p:cNvPr id="11" name="Text 9"/>
          <p:cNvSpPr/>
          <p:nvPr/>
        </p:nvSpPr>
        <p:spPr>
          <a:xfrm>
            <a:off x="6400640" y="4842083"/>
            <a:ext cx="5333867" cy="18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kern="100" spc="74" dirty="0">
                <a:solidFill>
                  <a:srgbClr val="000000"/>
                </a:solidFill>
                <a:latin typeface="Geist Mono Bold" pitchFamily="34" charset="0"/>
                <a:ea typeface="Geist Mono Bold" pitchFamily="34" charset="-122"/>
                <a:cs typeface="Geist Mono Bold" pitchFamily="34" charset="0"/>
              </a:rPr>
              <a:t>DEVELOPMENT RULES &amp; GIT HYGIENE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640" y="5126957"/>
            <a:ext cx="5029074" cy="1189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55600" indent="-355600" algn="l">
              <a:lnSpc>
                <a:spcPct val="10400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Mukta" pitchFamily="34" charset="0"/>
                <a:ea typeface="Mukta" pitchFamily="34" charset="-122"/>
                <a:cs typeface="Mukta" pitchFamily="34" charset="0"/>
              </a:rPr>
              <a:t>Zero direct commits to main.</a:t>
            </a:r>
            <a:endParaRPr lang="en-US" sz="1750" dirty="0"/>
          </a:p>
          <a:p>
            <a:pPr marL="355600" indent="-355600" algn="l">
              <a:lnSpc>
                <a:spcPct val="10400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Mukta" pitchFamily="34" charset="0"/>
                <a:ea typeface="Mukta" pitchFamily="34" charset="-122"/>
                <a:cs typeface="Mukta" pitchFamily="34" charset="0"/>
              </a:rPr>
              <a:t>Peer review and passing unit tests before pull request approval.</a:t>
            </a:r>
            <a:endParaRPr lang="en-US" sz="1750" dirty="0"/>
          </a:p>
          <a:p>
            <a:pPr marL="355600" indent="-355600" algn="l">
              <a:lnSpc>
                <a:spcPct val="10400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Mukta" pitchFamily="34" charset="0"/>
                <a:ea typeface="Mukta" pitchFamily="34" charset="-122"/>
                <a:cs typeface="Mukta" pitchFamily="34" charset="0"/>
              </a:rPr>
              <a:t>Trello sprint-board synchronization.</a:t>
            </a:r>
            <a:endParaRPr lang="en-US" sz="175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BB334EA-3855-5008-3666-25C14BEC0C4B}"/>
              </a:ext>
            </a:extLst>
          </p:cNvPr>
          <p:cNvCxnSpPr/>
          <p:nvPr/>
        </p:nvCxnSpPr>
        <p:spPr>
          <a:xfrm>
            <a:off x="5993209" y="1091737"/>
            <a:ext cx="0" cy="54005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18445" y="2825552"/>
            <a:ext cx="6155109" cy="603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endParaRPr lang="en-US" sz="4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5FBAF38-E467-D50B-208C-F849FED38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3812"/>
            <a:ext cx="12234629" cy="68341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771</Words>
  <Application>Microsoft Office PowerPoint</Application>
  <PresentationFormat>Widescreen</PresentationFormat>
  <Paragraphs>91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Mukta</vt:lpstr>
      <vt:lpstr>Geist Mono Bold</vt:lpstr>
      <vt:lpstr>Chakra Petch Bold</vt:lpstr>
      <vt:lpstr>Mukta SemiBold</vt:lpstr>
      <vt:lpstr>Geist Mono Medium</vt:lpstr>
      <vt:lpstr>Mukta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Omar Zaki</cp:lastModifiedBy>
  <cp:revision>7</cp:revision>
  <dcterms:created xsi:type="dcterms:W3CDTF">2026-10-25T13:32:03Z</dcterms:created>
  <dcterms:modified xsi:type="dcterms:W3CDTF">2026-10-25T14:44:50Z</dcterms:modified>
</cp:coreProperties>
</file>